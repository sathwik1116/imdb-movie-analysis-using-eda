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8288000" cy="10287000"/>
  <p:notesSz cx="6858000" cy="9144000"/>
  <p:embeddedFontLst>
    <p:embeddedFont>
      <p:font typeface="Arial Bold" panose="020B0704020202020204" pitchFamily="34" charset="0"/>
      <p:regular r:id="rId30"/>
      <p:bold r:id="rId31"/>
    </p:embeddedFont>
    <p:embeddedFont>
      <p:font typeface="Canva Sans Bold" panose="020B0604020202020204" charset="0"/>
      <p:regular r:id="rId32"/>
    </p:embeddedFont>
    <p:embeddedFont>
      <p:font typeface="Libre Baskerville" panose="02000000000000000000" pitchFamily="2" charset="0"/>
      <p:regular r:id="rId33"/>
    </p:embeddedFont>
    <p:embeddedFont>
      <p:font typeface="Times New Roman Bold" panose="02020803070505020304" pitchFamily="18" charset="0"/>
      <p:regular r:id="rId34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0" r="-330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17982"/>
            <a:ext cx="16265447" cy="7822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2"/>
              </a:lnSpc>
            </a:pPr>
            <a:r>
              <a:rPr lang="en-US" sz="34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film industry is a high-risk domain where large financial investments are made under uncertainty.</a:t>
            </a:r>
          </a:p>
          <a:p>
            <a:pPr algn="l">
              <a:lnSpc>
                <a:spcPts val="4162"/>
              </a:lnSpc>
            </a:pPr>
            <a:endParaRPr lang="en-US" sz="346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7272" lvl="1" indent="-313636" algn="l">
              <a:lnSpc>
                <a:spcPts val="4162"/>
              </a:lnSpc>
              <a:buFont typeface="Arial"/>
              <a:buChar char="•"/>
            </a:pPr>
            <a:r>
              <a:rPr lang="en-US" sz="34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Movie producers often rely on intuition, trends, or past success to decide genres, runtimes, and content styles.</a:t>
            </a:r>
          </a:p>
          <a:p>
            <a:pPr algn="l">
              <a:lnSpc>
                <a:spcPts val="4162"/>
              </a:lnSpc>
            </a:pPr>
            <a:endParaRPr lang="en-US" sz="346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162"/>
              </a:lnSpc>
            </a:pPr>
            <a:r>
              <a:rPr lang="en-US" sz="34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audience response varies significantly—some movies receive high ratings but limited popularity, while others attract massive audiences despite average ratings.</a:t>
            </a:r>
          </a:p>
          <a:p>
            <a:pPr algn="l">
              <a:lnSpc>
                <a:spcPts val="4162"/>
              </a:lnSpc>
            </a:pPr>
            <a:endParaRPr lang="en-US" sz="346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8850" lvl="1" indent="-374425" algn="l">
              <a:lnSpc>
                <a:spcPts val="4162"/>
              </a:lnSpc>
              <a:buFont typeface="Arial"/>
              <a:buChar char="•"/>
            </a:pPr>
            <a:r>
              <a:rPr lang="en-US" sz="34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IMDb provides large-scale, audience-driven data that can be analyzed to understand these patterns.</a:t>
            </a:r>
          </a:p>
          <a:p>
            <a:pPr algn="l">
              <a:lnSpc>
                <a:spcPts val="4162"/>
              </a:lnSpc>
            </a:pPr>
            <a:endParaRPr lang="en-US" sz="346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8850" lvl="1" indent="-374425" algn="l">
              <a:lnSpc>
                <a:spcPts val="4162"/>
              </a:lnSpc>
              <a:buFont typeface="Arial"/>
              <a:buChar char="•"/>
            </a:pPr>
            <a:r>
              <a:rPr lang="en-US" sz="34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project uses IMDb movie data to explore audience preferences and support data-driven movie production decisions.</a:t>
            </a:r>
          </a:p>
          <a:p>
            <a:pPr algn="l">
              <a:lnSpc>
                <a:spcPts val="4162"/>
              </a:lnSpc>
            </a:pPr>
            <a:endParaRPr lang="en-US" sz="346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98768" y="-28575"/>
            <a:ext cx="4444008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6210" y="415807"/>
            <a:ext cx="697655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5400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Business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9242" y="1754552"/>
            <a:ext cx="17029516" cy="788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1"/>
              </a:lnSpc>
            </a:pPr>
            <a:r>
              <a:rPr lang="en-US" sz="37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Movie producers face significant uncertainty when planning new films due to multiple influencing factors such as genre, runtime, audience preferences, and market reach.</a:t>
            </a:r>
          </a:p>
          <a:p>
            <a:pPr algn="l">
              <a:lnSpc>
                <a:spcPts val="4481"/>
              </a:lnSpc>
            </a:pPr>
            <a:endParaRPr lang="en-US" sz="373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481"/>
              </a:lnSpc>
            </a:pPr>
            <a:r>
              <a:rPr lang="en-US" sz="37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 limited production budget, making the wrong choices can lead to substantial financial losses. Producers lack clear, data-backed guidance on :</a:t>
            </a:r>
          </a:p>
          <a:p>
            <a:pPr algn="l">
              <a:lnSpc>
                <a:spcPts val="4481"/>
              </a:lnSpc>
            </a:pPr>
            <a:endParaRPr lang="en-US" sz="373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6383" lvl="1" indent="-403192" algn="l">
              <a:lnSpc>
                <a:spcPts val="4481"/>
              </a:lnSpc>
              <a:buFont typeface="Arial"/>
              <a:buChar char="•"/>
            </a:pPr>
            <a:r>
              <a:rPr lang="en-US" sz="37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genres are more likely to be well received</a:t>
            </a:r>
          </a:p>
          <a:p>
            <a:pPr algn="l">
              <a:lnSpc>
                <a:spcPts val="4481"/>
              </a:lnSpc>
            </a:pPr>
            <a:endParaRPr lang="en-US" sz="373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6383" lvl="1" indent="-403192" algn="l">
              <a:lnSpc>
                <a:spcPts val="4481"/>
              </a:lnSpc>
              <a:buFont typeface="Arial"/>
              <a:buChar char="•"/>
            </a:pPr>
            <a:r>
              <a:rPr lang="en-US" sz="37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movie duration works best for audience satisfaction</a:t>
            </a:r>
          </a:p>
          <a:p>
            <a:pPr algn="l">
              <a:lnSpc>
                <a:spcPts val="4481"/>
              </a:lnSpc>
            </a:pPr>
            <a:endParaRPr lang="en-US" sz="373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6383" lvl="1" indent="-403192" algn="l">
              <a:lnSpc>
                <a:spcPts val="4481"/>
              </a:lnSpc>
              <a:buFont typeface="Arial"/>
              <a:buChar char="•"/>
            </a:pPr>
            <a:r>
              <a:rPr lang="en-US" sz="37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Whether popularity guarantees audience approval</a:t>
            </a:r>
          </a:p>
          <a:p>
            <a:pPr algn="l">
              <a:lnSpc>
                <a:spcPts val="4481"/>
              </a:lnSpc>
            </a:pPr>
            <a:endParaRPr lang="en-US" sz="373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06383" lvl="1" indent="-403192" algn="l">
              <a:lnSpc>
                <a:spcPts val="4481"/>
              </a:lnSpc>
              <a:buFont typeface="Arial"/>
              <a:buChar char="•"/>
            </a:pPr>
            <a:r>
              <a:rPr lang="en-US" sz="37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director–genre alignment impacts success</a:t>
            </a:r>
          </a:p>
          <a:p>
            <a:pPr algn="l">
              <a:lnSpc>
                <a:spcPts val="4481"/>
              </a:lnSpc>
            </a:pPr>
            <a:endParaRPr lang="en-US" sz="373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716" y="0"/>
            <a:ext cx="1524493" cy="1422601"/>
          </a:xfrm>
          <a:custGeom>
            <a:avLst/>
            <a:gdLst/>
            <a:ahLst/>
            <a:cxnLst/>
            <a:rect l="l" t="t" r="r" b="b"/>
            <a:pathLst>
              <a:path w="1524493" h="1422601">
                <a:moveTo>
                  <a:pt x="0" y="0"/>
                </a:moveTo>
                <a:lnTo>
                  <a:pt x="1524494" y="0"/>
                </a:lnTo>
                <a:lnTo>
                  <a:pt x="1524494" y="1422601"/>
                </a:lnTo>
                <a:lnTo>
                  <a:pt x="0" y="1422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85" r="-7869" b="-13109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8600" y="180975"/>
            <a:ext cx="3278148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5400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Objective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6455" y="1439631"/>
            <a:ext cx="16957453" cy="7705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1013" lvl="1" indent="-420506" algn="just">
              <a:lnSpc>
                <a:spcPts val="4674"/>
              </a:lnSpc>
              <a:buFont typeface="Arial"/>
              <a:buChar char="•"/>
            </a:pPr>
            <a:r>
              <a:rPr lang="en-US" sz="38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collect IMDb movie data using web scraping techniques</a:t>
            </a:r>
          </a:p>
          <a:p>
            <a:pPr algn="just">
              <a:lnSpc>
                <a:spcPts val="4674"/>
              </a:lnSpc>
            </a:pPr>
            <a:endParaRPr lang="en-US" sz="38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41013" lvl="1" indent="-420506" algn="just">
              <a:lnSpc>
                <a:spcPts val="4674"/>
              </a:lnSpc>
              <a:buFont typeface="Arial"/>
              <a:buChar char="•"/>
            </a:pPr>
            <a:r>
              <a:rPr lang="en-US" sz="38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clean and preprocess the collected data for analysis</a:t>
            </a:r>
          </a:p>
          <a:p>
            <a:pPr algn="just">
              <a:lnSpc>
                <a:spcPts val="4674"/>
              </a:lnSpc>
            </a:pPr>
            <a:endParaRPr lang="en-US" sz="38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41013" lvl="1" indent="-420506" algn="just">
              <a:lnSpc>
                <a:spcPts val="4674"/>
              </a:lnSpc>
              <a:buFont typeface="Arial"/>
              <a:buChar char="•"/>
            </a:pPr>
            <a:r>
              <a:rPr lang="en-US" sz="38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perform exploratory data analysis to identify patterns in ratings, popularity, runtime, and genre</a:t>
            </a:r>
          </a:p>
          <a:p>
            <a:pPr algn="just">
              <a:lnSpc>
                <a:spcPts val="4674"/>
              </a:lnSpc>
            </a:pPr>
            <a:endParaRPr lang="en-US" sz="38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41013" lvl="1" indent="-420506" algn="just">
              <a:lnSpc>
                <a:spcPts val="4674"/>
              </a:lnSpc>
              <a:buFont typeface="Arial"/>
              <a:buChar char="•"/>
            </a:pPr>
            <a:r>
              <a:rPr lang="en-US" sz="38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analyze audience preferences across different movie attributes</a:t>
            </a:r>
          </a:p>
          <a:p>
            <a:pPr algn="just">
              <a:lnSpc>
                <a:spcPts val="4674"/>
              </a:lnSpc>
            </a:pPr>
            <a:endParaRPr lang="en-US" sz="38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41013" lvl="1" indent="-420506" algn="just">
              <a:lnSpc>
                <a:spcPts val="4674"/>
              </a:lnSpc>
              <a:buFont typeface="Arial"/>
              <a:buChar char="•"/>
            </a:pPr>
            <a:r>
              <a:rPr lang="en-US" sz="38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apply hypothesis testing to statistically validate observed patterns</a:t>
            </a:r>
          </a:p>
          <a:p>
            <a:pPr algn="just">
              <a:lnSpc>
                <a:spcPts val="4674"/>
              </a:lnSpc>
            </a:pPr>
            <a:endParaRPr lang="en-US" sz="38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41013" lvl="1" indent="-420506" algn="just">
              <a:lnSpc>
                <a:spcPts val="4674"/>
              </a:lnSpc>
              <a:buFont typeface="Arial"/>
              <a:buChar char="•"/>
            </a:pPr>
            <a:r>
              <a:rPr lang="en-US" sz="38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data-driven insights that support safer movie production decisions</a:t>
            </a:r>
          </a:p>
          <a:p>
            <a:pPr algn="l">
              <a:lnSpc>
                <a:spcPts val="4674"/>
              </a:lnSpc>
            </a:pPr>
            <a:endParaRPr lang="en-US" sz="389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185" y="1000125"/>
            <a:ext cx="17213244" cy="942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3607" lvl="1" indent="-391803" algn="l">
              <a:lnSpc>
                <a:spcPts val="4355"/>
              </a:lnSpc>
              <a:buFont typeface="Arial"/>
              <a:buChar char="•"/>
            </a:pPr>
            <a:r>
              <a:rPr lang="en-US" sz="3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Source 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IMDb </a:t>
            </a:r>
          </a:p>
          <a:p>
            <a:pPr marL="783607" lvl="1" indent="-391803" algn="l">
              <a:lnSpc>
                <a:spcPts val="4355"/>
              </a:lnSpc>
              <a:buFont typeface="Arial"/>
              <a:buChar char="•"/>
            </a:pPr>
            <a:r>
              <a:rPr lang="en-US" sz="3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Number of Movies :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Approximately 2000</a:t>
            </a:r>
          </a:p>
          <a:p>
            <a:pPr marL="783607" lvl="1" indent="-391803" algn="l">
              <a:lnSpc>
                <a:spcPts val="4355"/>
              </a:lnSpc>
              <a:buFont typeface="Arial"/>
              <a:buChar char="•"/>
            </a:pPr>
            <a:r>
              <a:rPr lang="en-US" sz="3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Nature of Data: 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Audience-driven movie information</a:t>
            </a:r>
          </a:p>
          <a:p>
            <a:pPr algn="l">
              <a:lnSpc>
                <a:spcPts val="4355"/>
              </a:lnSpc>
            </a:pPr>
            <a:endParaRPr lang="en-US" sz="3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55"/>
              </a:lnSpc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Attributes</a:t>
            </a:r>
          </a:p>
          <a:p>
            <a:pPr algn="l">
              <a:lnSpc>
                <a:spcPts val="4355"/>
              </a:lnSpc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3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Movie Title              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Name of the movie listed on IMDb</a:t>
            </a:r>
          </a:p>
          <a:p>
            <a:pPr algn="l">
              <a:lnSpc>
                <a:spcPts val="4355"/>
              </a:lnSpc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3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Genre                        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 of the movie based on its theme or storyline</a:t>
            </a:r>
          </a:p>
          <a:p>
            <a:pPr algn="l">
              <a:lnSpc>
                <a:spcPts val="4355"/>
              </a:lnSpc>
            </a:pPr>
            <a:r>
              <a:rPr lang="en-US" sz="3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IMDb Rating            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audience rating indicating overall movie quality</a:t>
            </a:r>
          </a:p>
          <a:p>
            <a:pPr algn="l">
              <a:lnSpc>
                <a:spcPts val="4355"/>
              </a:lnSpc>
            </a:pPr>
            <a:r>
              <a:rPr lang="en-US" sz="3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Votes (Popularity)    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users who rated the movie</a:t>
            </a:r>
          </a:p>
          <a:p>
            <a:pPr algn="l">
              <a:lnSpc>
                <a:spcPts val="4355"/>
              </a:lnSpc>
            </a:pPr>
            <a:r>
              <a:rPr lang="en-US" sz="3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Runtime (Minutes)   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users who rated the movie</a:t>
            </a:r>
          </a:p>
          <a:p>
            <a:pPr algn="l">
              <a:lnSpc>
                <a:spcPts val="4355"/>
              </a:lnSpc>
            </a:pPr>
            <a:r>
              <a:rPr lang="en-US" sz="3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Year of Release         </a:t>
            </a: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Year in which the movie was released</a:t>
            </a:r>
          </a:p>
          <a:p>
            <a:pPr algn="l">
              <a:lnSpc>
                <a:spcPts val="4355"/>
              </a:lnSpc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</a:t>
            </a:r>
          </a:p>
          <a:p>
            <a:pPr algn="l">
              <a:lnSpc>
                <a:spcPts val="4355"/>
              </a:lnSpc>
            </a:pPr>
            <a:endParaRPr lang="en-US" sz="362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355"/>
              </a:lnSpc>
            </a:pPr>
            <a:r>
              <a:rPr lang="en-US" sz="36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Target Variable</a:t>
            </a:r>
          </a:p>
          <a:p>
            <a:pPr marL="783607" lvl="1" indent="-391803" algn="l">
              <a:lnSpc>
                <a:spcPts val="4355"/>
              </a:lnSpc>
              <a:buFont typeface="Arial"/>
              <a:buChar char="•"/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IMDb Rating</a:t>
            </a:r>
          </a:p>
          <a:p>
            <a:pPr algn="l">
              <a:lnSpc>
                <a:spcPts val="4355"/>
              </a:lnSpc>
            </a:pPr>
            <a:r>
              <a:rPr lang="en-US" sz="362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Used as a measure of audience acceptance and movie success</a:t>
            </a:r>
          </a:p>
          <a:p>
            <a:pPr algn="l">
              <a:lnSpc>
                <a:spcPts val="4355"/>
              </a:lnSpc>
            </a:pPr>
            <a:endParaRPr lang="en-US" sz="362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952725" y="949498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0" y="-28575"/>
            <a:ext cx="5838517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5400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Dataset Overview</a:t>
            </a:r>
          </a:p>
        </p:txBody>
      </p:sp>
      <p:grpSp>
        <p:nvGrpSpPr>
          <p:cNvPr id="5" name="Group 5"/>
          <p:cNvGrpSpPr/>
          <p:nvPr/>
        </p:nvGrpSpPr>
        <p:grpSpPr>
          <a:xfrm rot="5400000">
            <a:off x="573830" y="3949076"/>
            <a:ext cx="309678" cy="270968"/>
            <a:chOff x="0" y="0"/>
            <a:chExt cx="812800" cy="711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573830" y="4525454"/>
            <a:ext cx="309678" cy="270968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573830" y="5057247"/>
            <a:ext cx="309678" cy="270968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573830" y="5589041"/>
            <a:ext cx="309678" cy="270968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5400000">
            <a:off x="573830" y="6165419"/>
            <a:ext cx="309678" cy="270968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5400000">
            <a:off x="573830" y="6741797"/>
            <a:ext cx="309678" cy="270968"/>
            <a:chOff x="0" y="0"/>
            <a:chExt cx="812800" cy="711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21348" y="9277474"/>
            <a:ext cx="4838100" cy="1009526"/>
          </a:xfrm>
          <a:custGeom>
            <a:avLst/>
            <a:gdLst/>
            <a:ahLst/>
            <a:cxnLst/>
            <a:rect l="l" t="t" r="r" b="b"/>
            <a:pathLst>
              <a:path w="4838100" h="1009526">
                <a:moveTo>
                  <a:pt x="0" y="0"/>
                </a:moveTo>
                <a:lnTo>
                  <a:pt x="4838100" y="0"/>
                </a:lnTo>
                <a:lnTo>
                  <a:pt x="4838100" y="1009526"/>
                </a:lnTo>
                <a:lnTo>
                  <a:pt x="0" y="1009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1614" y="-19050"/>
            <a:ext cx="624777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400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Web Scraping Details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45160" y="923925"/>
            <a:ext cx="15533092" cy="8818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7"/>
              </a:lnSpc>
            </a:pPr>
            <a:r>
              <a:rPr lang="en-US" sz="3926" b="1">
                <a:solidFill>
                  <a:srgbClr val="DB2B2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Website :</a:t>
            </a:r>
            <a:r>
              <a:rPr lang="en-US" sz="392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9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IMDb – Internet Movie Database</a:t>
            </a:r>
          </a:p>
          <a:p>
            <a:pPr algn="l">
              <a:lnSpc>
                <a:spcPts val="5497"/>
              </a:lnSpc>
            </a:pPr>
            <a:endParaRPr lang="en-US" sz="3926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357"/>
              </a:lnSpc>
            </a:pPr>
            <a:r>
              <a:rPr lang="en-US" sz="3826" b="1">
                <a:solidFill>
                  <a:srgbClr val="DB2B2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Tools Used :</a:t>
            </a:r>
            <a:r>
              <a:rPr lang="en-US" sz="3826">
                <a:solidFill>
                  <a:srgbClr val="DB2B2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826156" lvl="1" indent="-413078" algn="l">
              <a:lnSpc>
                <a:spcPts val="5357"/>
              </a:lnSpc>
              <a:buFont typeface="Arial"/>
              <a:buChar char="•"/>
            </a:pPr>
            <a:r>
              <a:rPr lang="en-US" sz="38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</a:p>
          <a:p>
            <a:pPr marL="826156" lvl="1" indent="-413078" algn="l">
              <a:lnSpc>
                <a:spcPts val="5357"/>
              </a:lnSpc>
              <a:buFont typeface="Arial"/>
              <a:buChar char="•"/>
            </a:pPr>
            <a:r>
              <a:rPr lang="en-US" sz="38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Selenium</a:t>
            </a:r>
          </a:p>
          <a:p>
            <a:pPr marL="826156" lvl="1" indent="-413078" algn="l">
              <a:lnSpc>
                <a:spcPts val="5357"/>
              </a:lnSpc>
              <a:buFont typeface="Arial"/>
              <a:buChar char="•"/>
            </a:pPr>
            <a:r>
              <a:rPr lang="en-US" sz="38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Locators </a:t>
            </a:r>
          </a:p>
          <a:p>
            <a:pPr algn="l">
              <a:lnSpc>
                <a:spcPts val="5357"/>
              </a:lnSpc>
            </a:pPr>
            <a:r>
              <a:rPr lang="en-US" sz="3826" b="1">
                <a:solidFill>
                  <a:srgbClr val="DB2B2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Approach :</a:t>
            </a:r>
          </a:p>
          <a:p>
            <a:pPr marL="826156" lvl="1" indent="-413078" algn="l">
              <a:lnSpc>
                <a:spcPts val="5357"/>
              </a:lnSpc>
              <a:buFont typeface="Arial"/>
              <a:buChar char="•"/>
            </a:pPr>
            <a:r>
              <a:rPr lang="en-US" sz="38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Installing and configuring Selenium WebDriver</a:t>
            </a:r>
          </a:p>
          <a:p>
            <a:pPr marL="826156" lvl="1" indent="-413078" algn="l">
              <a:lnSpc>
                <a:spcPts val="5357"/>
              </a:lnSpc>
              <a:buFont typeface="Arial"/>
              <a:buChar char="•"/>
            </a:pPr>
            <a:r>
              <a:rPr lang="en-US" sz="38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target IMDb movie pages</a:t>
            </a:r>
          </a:p>
          <a:p>
            <a:pPr marL="826156" lvl="1" indent="-413078" algn="l">
              <a:lnSpc>
                <a:spcPts val="5357"/>
              </a:lnSpc>
              <a:buFont typeface="Arial"/>
              <a:buChar char="•"/>
            </a:pPr>
            <a:r>
              <a:rPr lang="en-US" sz="38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Locating required elements using locators</a:t>
            </a:r>
          </a:p>
          <a:p>
            <a:pPr marL="826156" lvl="1" indent="-413078" algn="l">
              <a:lnSpc>
                <a:spcPts val="5357"/>
              </a:lnSpc>
              <a:buFont typeface="Arial"/>
              <a:buChar char="•"/>
            </a:pPr>
            <a:r>
              <a:rPr lang="en-US" sz="38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Extracting movie details</a:t>
            </a:r>
          </a:p>
          <a:p>
            <a:pPr algn="l">
              <a:lnSpc>
                <a:spcPts val="5357"/>
              </a:lnSpc>
            </a:pPr>
            <a:endParaRPr lang="en-US" sz="3826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217"/>
              </a:lnSpc>
              <a:spcBef>
                <a:spcPct val="0"/>
              </a:spcBef>
            </a:pPr>
            <a:endParaRPr lang="en-US" sz="3826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21348" y="9277474"/>
            <a:ext cx="4838100" cy="1009526"/>
          </a:xfrm>
          <a:custGeom>
            <a:avLst/>
            <a:gdLst/>
            <a:ahLst/>
            <a:cxnLst/>
            <a:rect l="l" t="t" r="r" b="b"/>
            <a:pathLst>
              <a:path w="4838100" h="1009526">
                <a:moveTo>
                  <a:pt x="0" y="0"/>
                </a:moveTo>
                <a:lnTo>
                  <a:pt x="4838100" y="0"/>
                </a:lnTo>
                <a:lnTo>
                  <a:pt x="4838100" y="1009526"/>
                </a:lnTo>
                <a:lnTo>
                  <a:pt x="0" y="1009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13274" y="101642"/>
            <a:ext cx="890791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  <a:spcBef>
                <a:spcPct val="0"/>
              </a:spcBef>
            </a:pPr>
            <a:r>
              <a:rPr lang="en-US" sz="4500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Data Cleaning &amp; Pre Processing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33326" y="1021030"/>
            <a:ext cx="13892810" cy="8761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duplicate movie records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Handled missing values appropriately to avoid data loss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data types for numerical consistency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Standardized runtime values (minutes)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Categorized movie runtime into meaningful groups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Categorized popularity based on IMDb votes</a:t>
            </a:r>
          </a:p>
          <a:p>
            <a:pPr algn="l">
              <a:lnSpc>
                <a:spcPts val="5043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43"/>
              </a:lnSpc>
              <a:spcBef>
                <a:spcPct val="0"/>
              </a:spcBef>
            </a:pPr>
            <a:r>
              <a:rPr lang="en-US" sz="36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multi-genre movies for accurate genre-wise analysis</a:t>
            </a:r>
          </a:p>
          <a:p>
            <a:pPr algn="ctr">
              <a:lnSpc>
                <a:spcPts val="3554"/>
              </a:lnSpc>
              <a:spcBef>
                <a:spcPct val="0"/>
              </a:spcBef>
            </a:pPr>
            <a:endParaRPr lang="en-US" sz="3602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" name="Group 5"/>
          <p:cNvGrpSpPr/>
          <p:nvPr/>
        </p:nvGrpSpPr>
        <p:grpSpPr>
          <a:xfrm rot="5400000">
            <a:off x="738377" y="1276979"/>
            <a:ext cx="309678" cy="270968"/>
            <a:chOff x="0" y="0"/>
            <a:chExt cx="812800" cy="711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738377" y="2582726"/>
            <a:ext cx="309678" cy="270968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738377" y="3780915"/>
            <a:ext cx="309678" cy="270968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738377" y="5090718"/>
            <a:ext cx="309678" cy="270968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5400000">
            <a:off x="738377" y="6400522"/>
            <a:ext cx="309678" cy="270968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5400000">
            <a:off x="738377" y="7710325"/>
            <a:ext cx="309678" cy="270968"/>
            <a:chOff x="0" y="0"/>
            <a:chExt cx="812800" cy="711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738377" y="8905828"/>
            <a:ext cx="309678" cy="270968"/>
            <a:chOff x="0" y="0"/>
            <a:chExt cx="812800" cy="711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0650" y="933450"/>
            <a:ext cx="10358896" cy="8647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5"/>
              </a:lnSpc>
              <a:spcBef>
                <a:spcPct val="0"/>
              </a:spcBef>
            </a:pPr>
            <a:r>
              <a:rPr lang="en-US" sz="361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IMDb Rating Distribution</a:t>
            </a:r>
          </a:p>
          <a:p>
            <a:pPr algn="l">
              <a:lnSpc>
                <a:spcPts val="4505"/>
              </a:lnSpc>
              <a:spcBef>
                <a:spcPct val="0"/>
              </a:spcBef>
            </a:pPr>
            <a:endParaRPr lang="en-US" sz="3617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505"/>
              </a:lnSpc>
              <a:spcBef>
                <a:spcPct val="0"/>
              </a:spcBef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the overall pattern of audience ratings and assess how movies are generally perceived on IMDb.</a:t>
            </a:r>
          </a:p>
          <a:p>
            <a:pPr algn="l">
              <a:lnSpc>
                <a:spcPts val="4505"/>
              </a:lnSpc>
              <a:spcBef>
                <a:spcPct val="0"/>
              </a:spcBef>
            </a:pPr>
            <a:endParaRPr lang="en-US" sz="32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65"/>
              </a:lnSpc>
              <a:spcBef>
                <a:spcPct val="0"/>
              </a:spcBef>
            </a:pPr>
            <a:r>
              <a:rPr lang="en-US" sz="361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Observations :</a:t>
            </a:r>
          </a:p>
          <a:p>
            <a:pPr marL="673155" lvl="1" indent="-336577" algn="l">
              <a:lnSpc>
                <a:spcPts val="4365"/>
              </a:lnSpc>
              <a:spcBef>
                <a:spcPct val="0"/>
              </a:spcBef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IMDb ratings are concentrated in the 6–9 range, indicating moderate to strong audience approval</a:t>
            </a:r>
          </a:p>
          <a:p>
            <a:pPr algn="l">
              <a:lnSpc>
                <a:spcPts val="4365"/>
              </a:lnSpc>
              <a:spcBef>
                <a:spcPct val="0"/>
              </a:spcBef>
            </a:pPr>
            <a:endParaRPr lang="en-US" sz="31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73155" lvl="1" indent="-336577" algn="l">
              <a:lnSpc>
                <a:spcPts val="4365"/>
              </a:lnSpc>
              <a:spcBef>
                <a:spcPct val="0"/>
              </a:spcBef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Extremely low-rated movies are uncommon</a:t>
            </a:r>
          </a:p>
          <a:p>
            <a:pPr algn="l">
              <a:lnSpc>
                <a:spcPts val="4365"/>
              </a:lnSpc>
              <a:spcBef>
                <a:spcPct val="0"/>
              </a:spcBef>
            </a:pPr>
            <a:endParaRPr lang="en-US" sz="31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73155" lvl="1" indent="-336577" algn="l">
              <a:lnSpc>
                <a:spcPts val="4365"/>
              </a:lnSpc>
              <a:spcBef>
                <a:spcPct val="0"/>
              </a:spcBef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high ratings (above 9) are rare, showing that exceptional audience approval is difficult to achieve</a:t>
            </a:r>
          </a:p>
          <a:p>
            <a:pPr algn="l">
              <a:lnSpc>
                <a:spcPts val="5065"/>
              </a:lnSpc>
              <a:spcBef>
                <a:spcPct val="0"/>
              </a:spcBef>
            </a:pPr>
            <a:endParaRPr lang="en-US" sz="31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505"/>
              </a:lnSpc>
              <a:spcBef>
                <a:spcPct val="0"/>
              </a:spcBef>
            </a:pPr>
            <a:endParaRPr lang="en-US" sz="31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512742" y="1577390"/>
            <a:ext cx="7502423" cy="6024673"/>
          </a:xfrm>
          <a:custGeom>
            <a:avLst/>
            <a:gdLst/>
            <a:ahLst/>
            <a:cxnLst/>
            <a:rect l="l" t="t" r="r" b="b"/>
            <a:pathLst>
              <a:path w="7502423" h="6024673">
                <a:moveTo>
                  <a:pt x="0" y="0"/>
                </a:moveTo>
                <a:lnTo>
                  <a:pt x="7502423" y="0"/>
                </a:lnTo>
                <a:lnTo>
                  <a:pt x="7502423" y="6024673"/>
                </a:lnTo>
                <a:lnTo>
                  <a:pt x="0" y="6024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785340" y="92564"/>
            <a:ext cx="624777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400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UNIVARIATE ANALYSIS</a:t>
            </a:r>
          </a:p>
        </p:txBody>
      </p:sp>
      <p:sp>
        <p:nvSpPr>
          <p:cNvPr id="5" name="Freeform 5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0650" y="1815285"/>
            <a:ext cx="10358896" cy="744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5"/>
              </a:lnSpc>
              <a:spcBef>
                <a:spcPct val="0"/>
              </a:spcBef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how audience engagement (measured through IMDb votes) is distributed across movies.</a:t>
            </a:r>
          </a:p>
          <a:p>
            <a:pPr algn="l">
              <a:lnSpc>
                <a:spcPts val="4505"/>
              </a:lnSpc>
              <a:spcBef>
                <a:spcPct val="0"/>
              </a:spcBef>
            </a:pPr>
            <a:endParaRPr lang="en-US" sz="32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65"/>
              </a:lnSpc>
              <a:spcBef>
                <a:spcPct val="0"/>
              </a:spcBef>
            </a:pPr>
            <a:r>
              <a:rPr lang="en-US" sz="361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Observations :</a:t>
            </a:r>
          </a:p>
          <a:p>
            <a:pPr algn="l">
              <a:lnSpc>
                <a:spcPts val="5065"/>
              </a:lnSpc>
              <a:spcBef>
                <a:spcPct val="0"/>
              </a:spcBef>
            </a:pPr>
            <a:endParaRPr lang="en-US" sz="3617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73155" lvl="1" indent="-336577" algn="l">
              <a:lnSpc>
                <a:spcPts val="4365"/>
              </a:lnSpc>
              <a:spcBef>
                <a:spcPct val="0"/>
              </a:spcBef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Majority of movies fall under Low to Medium popularity levels</a:t>
            </a:r>
          </a:p>
          <a:p>
            <a:pPr algn="l">
              <a:lnSpc>
                <a:spcPts val="4365"/>
              </a:lnSpc>
              <a:spcBef>
                <a:spcPct val="0"/>
              </a:spcBef>
            </a:pPr>
            <a:endParaRPr lang="en-US" sz="31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73155" lvl="1" indent="-336577" algn="l">
              <a:lnSpc>
                <a:spcPts val="4365"/>
              </a:lnSpc>
              <a:spcBef>
                <a:spcPct val="0"/>
              </a:spcBef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a small fraction of movies achieve Very High popularity</a:t>
            </a:r>
          </a:p>
          <a:p>
            <a:pPr algn="l">
              <a:lnSpc>
                <a:spcPts val="4365"/>
              </a:lnSpc>
              <a:spcBef>
                <a:spcPct val="0"/>
              </a:spcBef>
            </a:pPr>
            <a:endParaRPr lang="en-US" sz="31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73155" lvl="1" indent="-336577" algn="l">
              <a:lnSpc>
                <a:spcPts val="4365"/>
              </a:lnSpc>
              <a:spcBef>
                <a:spcPct val="0"/>
              </a:spcBef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Audience attention is unevenly distributed across films</a:t>
            </a:r>
          </a:p>
          <a:p>
            <a:pPr algn="l">
              <a:lnSpc>
                <a:spcPts val="4505"/>
              </a:lnSpc>
              <a:spcBef>
                <a:spcPct val="0"/>
              </a:spcBef>
            </a:pPr>
            <a:endParaRPr lang="en-US" sz="31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749546" y="1409969"/>
            <a:ext cx="7141838" cy="6361637"/>
          </a:xfrm>
          <a:custGeom>
            <a:avLst/>
            <a:gdLst/>
            <a:ahLst/>
            <a:cxnLst/>
            <a:rect l="l" t="t" r="r" b="b"/>
            <a:pathLst>
              <a:path w="7141838" h="6361637">
                <a:moveTo>
                  <a:pt x="0" y="0"/>
                </a:moveTo>
                <a:lnTo>
                  <a:pt x="7141837" y="0"/>
                </a:lnTo>
                <a:lnTo>
                  <a:pt x="7141837" y="6361637"/>
                </a:lnTo>
                <a:lnTo>
                  <a:pt x="0" y="63616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2400" y="1041400"/>
            <a:ext cx="7686550" cy="576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Popularity (IMDb Votes) Distribution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20115" y="92564"/>
            <a:ext cx="624777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400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UNIVARIATE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49546" y="1672870"/>
            <a:ext cx="7241185" cy="5701082"/>
          </a:xfrm>
          <a:custGeom>
            <a:avLst/>
            <a:gdLst/>
            <a:ahLst/>
            <a:cxnLst/>
            <a:rect l="l" t="t" r="r" b="b"/>
            <a:pathLst>
              <a:path w="7241185" h="5701082">
                <a:moveTo>
                  <a:pt x="0" y="0"/>
                </a:moveTo>
                <a:lnTo>
                  <a:pt x="7241185" y="0"/>
                </a:lnTo>
                <a:lnTo>
                  <a:pt x="7241185" y="5701082"/>
                </a:lnTo>
                <a:lnTo>
                  <a:pt x="0" y="57010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3229" y="2191498"/>
            <a:ext cx="10358896" cy="633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5"/>
              </a:lnSpc>
              <a:spcBef>
                <a:spcPct val="0"/>
              </a:spcBef>
            </a:pPr>
            <a:r>
              <a:rPr lang="en-US" sz="32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examine how movie durations are distributed and identify commonly used runtime ranges in the film industry.</a:t>
            </a:r>
          </a:p>
          <a:p>
            <a:pPr algn="l">
              <a:lnSpc>
                <a:spcPts val="4505"/>
              </a:lnSpc>
              <a:spcBef>
                <a:spcPct val="0"/>
              </a:spcBef>
            </a:pPr>
            <a:endParaRPr lang="en-US" sz="32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65"/>
              </a:lnSpc>
              <a:spcBef>
                <a:spcPct val="0"/>
              </a:spcBef>
            </a:pPr>
            <a:r>
              <a:rPr lang="en-US" sz="361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Observations :</a:t>
            </a:r>
          </a:p>
          <a:p>
            <a:pPr algn="l">
              <a:lnSpc>
                <a:spcPts val="5065"/>
              </a:lnSpc>
              <a:spcBef>
                <a:spcPct val="0"/>
              </a:spcBef>
            </a:pPr>
            <a:endParaRPr lang="en-US" sz="3617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73155" lvl="1" indent="-336577" algn="l">
              <a:lnSpc>
                <a:spcPts val="4365"/>
              </a:lnSpc>
              <a:spcBef>
                <a:spcPct val="0"/>
              </a:spcBef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movies have runtimes between 120 and 150 minutes</a:t>
            </a:r>
          </a:p>
          <a:p>
            <a:pPr algn="l">
              <a:lnSpc>
                <a:spcPts val="4365"/>
              </a:lnSpc>
              <a:spcBef>
                <a:spcPct val="0"/>
              </a:spcBef>
            </a:pPr>
            <a:endParaRPr lang="en-US" sz="31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73155" lvl="1" indent="-336577" algn="l">
              <a:lnSpc>
                <a:spcPts val="4365"/>
              </a:lnSpc>
              <a:spcBef>
                <a:spcPct val="0"/>
              </a:spcBef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short movies (below 90 minutes) are relatively few</a:t>
            </a:r>
          </a:p>
          <a:p>
            <a:pPr algn="l">
              <a:lnSpc>
                <a:spcPts val="4365"/>
              </a:lnSpc>
              <a:spcBef>
                <a:spcPct val="0"/>
              </a:spcBef>
            </a:pPr>
            <a:endParaRPr lang="en-US" sz="31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73155" lvl="1" indent="-336577" algn="l">
              <a:lnSpc>
                <a:spcPts val="4365"/>
              </a:lnSpc>
              <a:spcBef>
                <a:spcPct val="0"/>
              </a:spcBef>
              <a:buFont typeface="Arial"/>
              <a:buChar char="•"/>
            </a:pPr>
            <a:r>
              <a:rPr lang="en-US" sz="31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Extremely long movies (above 180 minutes) are uncommon</a:t>
            </a:r>
          </a:p>
          <a:p>
            <a:pPr algn="l">
              <a:lnSpc>
                <a:spcPts val="4505"/>
              </a:lnSpc>
              <a:spcBef>
                <a:spcPct val="0"/>
              </a:spcBef>
            </a:pPr>
            <a:endParaRPr lang="en-US" sz="311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23229" y="1179703"/>
            <a:ext cx="5587680" cy="64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Movie Runtime Distribution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20115" y="148371"/>
            <a:ext cx="624777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  <a:spcBef>
                <a:spcPct val="0"/>
              </a:spcBef>
            </a:pPr>
            <a:r>
              <a:rPr lang="en-US" sz="4400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UNIVARIATE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619580" y="1612937"/>
            <a:ext cx="7123500" cy="7014536"/>
          </a:xfrm>
          <a:custGeom>
            <a:avLst/>
            <a:gdLst/>
            <a:ahLst/>
            <a:cxnLst/>
            <a:rect l="l" t="t" r="r" b="b"/>
            <a:pathLst>
              <a:path w="7123500" h="7014536">
                <a:moveTo>
                  <a:pt x="0" y="0"/>
                </a:moveTo>
                <a:lnTo>
                  <a:pt x="7123500" y="0"/>
                </a:lnTo>
                <a:lnTo>
                  <a:pt x="7123500" y="7014536"/>
                </a:lnTo>
                <a:lnTo>
                  <a:pt x="0" y="7014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25004" y="-104775"/>
            <a:ext cx="7942957" cy="77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BIVARIATE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4102" y="801360"/>
            <a:ext cx="5284157" cy="64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Runtime vs IMDb Rating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0650" y="1920234"/>
            <a:ext cx="10080111" cy="6314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8"/>
              </a:lnSpc>
              <a:spcBef>
                <a:spcPct val="0"/>
              </a:spcBef>
            </a:pPr>
            <a:r>
              <a:rPr lang="en-US" sz="34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how movie duration influences audience ratings</a:t>
            </a:r>
          </a:p>
          <a:p>
            <a:pPr algn="l">
              <a:lnSpc>
                <a:spcPts val="2510"/>
              </a:lnSpc>
              <a:spcBef>
                <a:spcPct val="0"/>
              </a:spcBef>
            </a:pPr>
            <a:endParaRPr lang="en-US" sz="34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756"/>
              </a:lnSpc>
              <a:spcBef>
                <a:spcPct val="0"/>
              </a:spcBef>
            </a:pPr>
            <a:r>
              <a:rPr lang="en-US" sz="33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Observations :</a:t>
            </a:r>
          </a:p>
          <a:p>
            <a:pPr marL="733533" lvl="1" indent="-366767" algn="l">
              <a:lnSpc>
                <a:spcPts val="4756"/>
              </a:lnSpc>
              <a:spcBef>
                <a:spcPct val="0"/>
              </a:spcBef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Movies with standard runtimes (120–150 minutes) receive higher median IMDb ratings</a:t>
            </a:r>
          </a:p>
          <a:p>
            <a:pPr algn="l">
              <a:lnSpc>
                <a:spcPts val="4756"/>
              </a:lnSpc>
              <a:spcBef>
                <a:spcPct val="0"/>
              </a:spcBef>
            </a:pPr>
            <a:endParaRPr lang="en-US" sz="339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33533" lvl="1" indent="-366767" algn="l">
              <a:lnSpc>
                <a:spcPts val="4756"/>
              </a:lnSpc>
              <a:spcBef>
                <a:spcPct val="0"/>
              </a:spcBef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short and very long movies show lower or inconsistent ratings</a:t>
            </a:r>
          </a:p>
          <a:p>
            <a:pPr algn="l">
              <a:lnSpc>
                <a:spcPts val="4756"/>
              </a:lnSpc>
              <a:spcBef>
                <a:spcPct val="0"/>
              </a:spcBef>
            </a:pPr>
            <a:endParaRPr lang="en-US" sz="339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33533" lvl="1" indent="-366767" algn="l">
              <a:lnSpc>
                <a:spcPts val="4756"/>
              </a:lnSpc>
              <a:spcBef>
                <a:spcPct val="0"/>
              </a:spcBef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Audience appreciation is not linear with runtime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70761" y="1443346"/>
            <a:ext cx="7682847" cy="6800260"/>
          </a:xfrm>
          <a:custGeom>
            <a:avLst/>
            <a:gdLst/>
            <a:ahLst/>
            <a:cxnLst/>
            <a:rect l="l" t="t" r="r" b="b"/>
            <a:pathLst>
              <a:path w="7682847" h="6800260">
                <a:moveTo>
                  <a:pt x="0" y="0"/>
                </a:moveTo>
                <a:lnTo>
                  <a:pt x="7682847" y="0"/>
                </a:lnTo>
                <a:lnTo>
                  <a:pt x="7682847" y="6800260"/>
                </a:lnTo>
                <a:lnTo>
                  <a:pt x="0" y="6800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172521" y="-95250"/>
            <a:ext cx="7942957" cy="731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BIVARIATE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4102" y="660082"/>
            <a:ext cx="8919898" cy="64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Rating Composition across Popularity Levels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2789" y="1357621"/>
            <a:ext cx="9739465" cy="8662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9"/>
              </a:lnSpc>
              <a:spcBef>
                <a:spcPct val="0"/>
              </a:spcBef>
            </a:pPr>
            <a:r>
              <a:rPr lang="en-US" sz="31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analyze how audience ratings are distributed across different levels of movie popularity.</a:t>
            </a:r>
          </a:p>
          <a:p>
            <a:pPr algn="l">
              <a:lnSpc>
                <a:spcPts val="2332"/>
              </a:lnSpc>
              <a:spcBef>
                <a:spcPct val="0"/>
              </a:spcBef>
            </a:pPr>
            <a:endParaRPr lang="en-US" sz="317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420"/>
              </a:lnSpc>
              <a:spcBef>
                <a:spcPct val="0"/>
              </a:spcBef>
            </a:pPr>
            <a:r>
              <a:rPr lang="en-US" sz="315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Observations :</a:t>
            </a:r>
          </a:p>
          <a:p>
            <a:pPr marL="681670" lvl="1" indent="-340835" algn="l">
              <a:lnSpc>
                <a:spcPts val="4420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popularity movies show mixed ratings, indicating inconsistent audience response.</a:t>
            </a:r>
          </a:p>
          <a:p>
            <a:pPr algn="l">
              <a:lnSpc>
                <a:spcPts val="4420"/>
              </a:lnSpc>
            </a:pPr>
            <a:endParaRPr lang="en-US" sz="315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1670" lvl="1" indent="-340835" algn="l">
              <a:lnSpc>
                <a:spcPts val="4420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Medium popularity movies include many well-rated films, showing quality does not require extreme popularity.</a:t>
            </a:r>
          </a:p>
          <a:p>
            <a:pPr algn="l">
              <a:lnSpc>
                <a:spcPts val="4420"/>
              </a:lnSpc>
            </a:pPr>
            <a:endParaRPr lang="en-US" sz="315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1670" lvl="1" indent="-340835" algn="l">
              <a:lnSpc>
                <a:spcPts val="4420"/>
              </a:lnSpc>
              <a:spcBef>
                <a:spcPct val="0"/>
              </a:spcBef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popularity movies still have mixed ratings, meaning reach does not always imply quality.</a:t>
            </a:r>
          </a:p>
          <a:p>
            <a:pPr algn="l">
              <a:lnSpc>
                <a:spcPts val="4420"/>
              </a:lnSpc>
              <a:spcBef>
                <a:spcPct val="0"/>
              </a:spcBef>
            </a:pPr>
            <a:endParaRPr lang="en-US" sz="315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1670" lvl="1" indent="-340835" algn="l">
              <a:lnSpc>
                <a:spcPts val="4420"/>
              </a:lnSpc>
              <a:spcBef>
                <a:spcPct val="0"/>
              </a:spcBef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high popularity movies are mostly well-rated, but they are few in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110985" y="1640800"/>
            <a:ext cx="10948911" cy="5759481"/>
          </a:xfrm>
          <a:custGeom>
            <a:avLst/>
            <a:gdLst/>
            <a:ahLst/>
            <a:cxnLst/>
            <a:rect l="l" t="t" r="r" b="b"/>
            <a:pathLst>
              <a:path w="10948911" h="5759481">
                <a:moveTo>
                  <a:pt x="0" y="0"/>
                </a:moveTo>
                <a:lnTo>
                  <a:pt x="10948911" y="0"/>
                </a:lnTo>
                <a:lnTo>
                  <a:pt x="10948911" y="5759481"/>
                </a:lnTo>
                <a:lnTo>
                  <a:pt x="0" y="57594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9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172521" y="-95250"/>
            <a:ext cx="7942957" cy="731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BIVARIATE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3278" y="651827"/>
            <a:ext cx="6806092" cy="658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Genre-wise Audience Acceptance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4892" y="1556267"/>
            <a:ext cx="6806092" cy="7702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0"/>
              </a:lnSpc>
              <a:spcBef>
                <a:spcPct val="0"/>
              </a:spcBef>
            </a:pPr>
            <a:r>
              <a:rPr lang="en-US" sz="31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compare audience ratings across different movie genres.</a:t>
            </a:r>
          </a:p>
          <a:p>
            <a:pPr algn="l">
              <a:lnSpc>
                <a:spcPts val="4756"/>
              </a:lnSpc>
              <a:spcBef>
                <a:spcPct val="0"/>
              </a:spcBef>
            </a:pPr>
            <a:r>
              <a:rPr lang="en-US" sz="33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Observations :</a:t>
            </a:r>
          </a:p>
          <a:p>
            <a:pPr marL="668765" lvl="1" indent="-334382" algn="l">
              <a:lnSpc>
                <a:spcPts val="4336"/>
              </a:lnSpc>
              <a:spcBef>
                <a:spcPct val="0"/>
              </a:spcBef>
              <a:buFont typeface="Arial"/>
              <a:buChar char="•"/>
            </a:pPr>
            <a:r>
              <a:rPr lang="en-US" sz="30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Documentary has the highest median IMDb rating, indicating strong audience appreciation.</a:t>
            </a:r>
          </a:p>
          <a:p>
            <a:pPr algn="l">
              <a:lnSpc>
                <a:spcPts val="4336"/>
              </a:lnSpc>
              <a:spcBef>
                <a:spcPct val="0"/>
              </a:spcBef>
            </a:pPr>
            <a:endParaRPr lang="en-US" sz="309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68765" lvl="1" indent="-334382" algn="l">
              <a:lnSpc>
                <a:spcPts val="4336"/>
              </a:lnSpc>
              <a:spcBef>
                <a:spcPct val="0"/>
              </a:spcBef>
              <a:buFont typeface="Arial"/>
              <a:buChar char="•"/>
            </a:pPr>
            <a:r>
              <a:rPr lang="en-US" sz="30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War, Film-Noir, Western, and Animation also show consistently high median ratings.</a:t>
            </a:r>
          </a:p>
          <a:p>
            <a:pPr algn="l">
              <a:lnSpc>
                <a:spcPts val="4336"/>
              </a:lnSpc>
              <a:spcBef>
                <a:spcPct val="0"/>
              </a:spcBef>
            </a:pPr>
            <a:endParaRPr lang="en-US" sz="309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68765" lvl="1" indent="-334382" algn="just">
              <a:lnSpc>
                <a:spcPts val="4336"/>
              </a:lnSpc>
              <a:spcBef>
                <a:spcPct val="0"/>
              </a:spcBef>
              <a:buFont typeface="Arial"/>
              <a:buChar char="•"/>
            </a:pPr>
            <a:r>
              <a:rPr lang="en-US" sz="30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Drama, Thriller, Crime, and Sci-Fi fall in the mid-range with stable audience response.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1829611"/>
            <a:ext cx="8292695" cy="7015620"/>
          </a:xfrm>
          <a:custGeom>
            <a:avLst/>
            <a:gdLst/>
            <a:ahLst/>
            <a:cxnLst/>
            <a:rect l="l" t="t" r="r" b="b"/>
            <a:pathLst>
              <a:path w="8292695" h="7015620">
                <a:moveTo>
                  <a:pt x="0" y="0"/>
                </a:moveTo>
                <a:lnTo>
                  <a:pt x="8292695" y="0"/>
                </a:lnTo>
                <a:lnTo>
                  <a:pt x="8292695" y="7015620"/>
                </a:lnTo>
                <a:lnTo>
                  <a:pt x="0" y="70156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172521" y="-95250"/>
            <a:ext cx="7942957" cy="731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MULTIVARIATE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2256" y="651827"/>
            <a:ext cx="7903633" cy="658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Runtime × Popularity × IMDb Rating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271" y="1448018"/>
            <a:ext cx="7899618" cy="791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7"/>
              </a:lnSpc>
              <a:spcBef>
                <a:spcPct val="0"/>
              </a:spcBef>
            </a:pPr>
            <a:r>
              <a:rPr lang="en-US" sz="349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analyze how runtime and popularity together influence audience ratings.</a:t>
            </a:r>
          </a:p>
          <a:p>
            <a:pPr algn="l">
              <a:lnSpc>
                <a:spcPts val="4887"/>
              </a:lnSpc>
              <a:spcBef>
                <a:spcPct val="0"/>
              </a:spcBef>
            </a:pPr>
            <a:endParaRPr lang="en-US" sz="349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191"/>
              </a:lnSpc>
              <a:spcBef>
                <a:spcPct val="0"/>
              </a:spcBef>
            </a:pPr>
            <a:r>
              <a:rPr lang="en-US" sz="370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Observations :</a:t>
            </a:r>
          </a:p>
          <a:p>
            <a:pPr marL="731805" lvl="1" indent="-365903" algn="l">
              <a:lnSpc>
                <a:spcPts val="4745"/>
              </a:lnSpc>
              <a:spcBef>
                <a:spcPct val="0"/>
              </a:spcBef>
              <a:buFont typeface="Arial"/>
              <a:buChar char="•"/>
            </a:pPr>
            <a:r>
              <a:rPr lang="en-US" sz="33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Movies with standard runtimes (120–150 min) achieve higher ratings across popularity levels</a:t>
            </a:r>
          </a:p>
          <a:p>
            <a:pPr algn="l">
              <a:lnSpc>
                <a:spcPts val="4745"/>
              </a:lnSpc>
              <a:spcBef>
                <a:spcPct val="0"/>
              </a:spcBef>
            </a:pPr>
            <a:endParaRPr lang="en-US" sz="338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31805" lvl="1" indent="-365903" algn="l">
              <a:lnSpc>
                <a:spcPts val="4745"/>
              </a:lnSpc>
              <a:spcBef>
                <a:spcPct val="0"/>
              </a:spcBef>
              <a:buFont typeface="Arial"/>
              <a:buChar char="•"/>
            </a:pPr>
            <a:r>
              <a:rPr lang="en-US" sz="33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short and very long movies perform inconsistently, even when popular</a:t>
            </a:r>
          </a:p>
          <a:p>
            <a:pPr algn="l">
              <a:lnSpc>
                <a:spcPts val="4745"/>
              </a:lnSpc>
              <a:spcBef>
                <a:spcPct val="0"/>
              </a:spcBef>
            </a:pPr>
            <a:endParaRPr lang="en-US" sz="338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31805" lvl="1" indent="-365903" algn="just">
              <a:lnSpc>
                <a:spcPts val="4745"/>
              </a:lnSpc>
              <a:spcBef>
                <a:spcPct val="0"/>
              </a:spcBef>
              <a:buFont typeface="Arial"/>
              <a:buChar char="•"/>
            </a:pPr>
            <a:r>
              <a:rPr lang="en-US" sz="338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Popularity alone does not compensate for unfavorable runtime choices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82495" y="2161070"/>
            <a:ext cx="10489900" cy="6349818"/>
          </a:xfrm>
          <a:custGeom>
            <a:avLst/>
            <a:gdLst/>
            <a:ahLst/>
            <a:cxnLst/>
            <a:rect l="l" t="t" r="r" b="b"/>
            <a:pathLst>
              <a:path w="10489900" h="6349818">
                <a:moveTo>
                  <a:pt x="0" y="0"/>
                </a:moveTo>
                <a:lnTo>
                  <a:pt x="10489899" y="0"/>
                </a:lnTo>
                <a:lnTo>
                  <a:pt x="10489899" y="6349818"/>
                </a:lnTo>
                <a:lnTo>
                  <a:pt x="0" y="6349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172521" y="-95250"/>
            <a:ext cx="7942957" cy="731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F12022"/>
                </a:solidFill>
                <a:latin typeface="Arial Bold"/>
                <a:ea typeface="Arial Bold"/>
                <a:cs typeface="Arial Bold"/>
                <a:sym typeface="Arial Bold"/>
              </a:rPr>
              <a:t>MULTIVARIATE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60247" y="856068"/>
            <a:ext cx="10917218" cy="658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POPULARITY DISTRIBUTION ACROSS GENRES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0247" y="1743886"/>
            <a:ext cx="7192031" cy="7397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0"/>
              </a:lnSpc>
              <a:spcBef>
                <a:spcPct val="0"/>
              </a:spcBef>
            </a:pPr>
            <a:r>
              <a:rPr lang="en-US" sz="302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how audience popularity varies across different movie genres.</a:t>
            </a:r>
          </a:p>
          <a:p>
            <a:pPr algn="l">
              <a:lnSpc>
                <a:spcPts val="4240"/>
              </a:lnSpc>
              <a:spcBef>
                <a:spcPct val="0"/>
              </a:spcBef>
            </a:pPr>
            <a:endParaRPr lang="en-US" sz="302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503"/>
              </a:lnSpc>
              <a:spcBef>
                <a:spcPct val="0"/>
              </a:spcBef>
            </a:pPr>
            <a:r>
              <a:rPr lang="en-US" sz="32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Observations :</a:t>
            </a:r>
          </a:p>
          <a:p>
            <a:pPr marL="634861" lvl="1" indent="-317430" algn="l">
              <a:lnSpc>
                <a:spcPts val="4116"/>
              </a:lnSpc>
              <a:spcBef>
                <a:spcPct val="0"/>
              </a:spcBef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Documentary and Film-Noir show a higher proportion of low popularity, indicating niche audience reach.</a:t>
            </a:r>
          </a:p>
          <a:p>
            <a:pPr algn="l">
              <a:lnSpc>
                <a:spcPts val="4116"/>
              </a:lnSpc>
              <a:spcBef>
                <a:spcPct val="0"/>
              </a:spcBef>
            </a:pPr>
            <a:endParaRPr lang="en-US" sz="29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4861" lvl="1" indent="-317430" algn="l">
              <a:lnSpc>
                <a:spcPts val="4116"/>
              </a:lnSpc>
              <a:spcBef>
                <a:spcPct val="0"/>
              </a:spcBef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Action, Comedy, and Romance contain a larger share of high and very high popularity movies, reflecting mass appeal.</a:t>
            </a:r>
          </a:p>
          <a:p>
            <a:pPr algn="l">
              <a:lnSpc>
                <a:spcPts val="4116"/>
              </a:lnSpc>
              <a:spcBef>
                <a:spcPct val="0"/>
              </a:spcBef>
            </a:pPr>
            <a:endParaRPr lang="en-US" sz="29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4861" lvl="1" indent="-317430" algn="just">
              <a:lnSpc>
                <a:spcPts val="4116"/>
              </a:lnSpc>
              <a:spcBef>
                <a:spcPct val="0"/>
              </a:spcBef>
              <a:buFont typeface="Arial"/>
              <a:buChar char="•"/>
            </a:pPr>
            <a:r>
              <a:rPr lang="en-US" sz="29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Drama and Thriller exhibit a balanced mix of popularity levels, suggesting consistent audience engagement.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2736" y="-46392"/>
            <a:ext cx="17482529" cy="10333392"/>
          </a:xfrm>
          <a:custGeom>
            <a:avLst/>
            <a:gdLst/>
            <a:ahLst/>
            <a:cxnLst/>
            <a:rect l="l" t="t" r="r" b="b"/>
            <a:pathLst>
              <a:path w="17482529" h="10333392">
                <a:moveTo>
                  <a:pt x="0" y="0"/>
                </a:moveTo>
                <a:lnTo>
                  <a:pt x="17482528" y="0"/>
                </a:lnTo>
                <a:lnTo>
                  <a:pt x="17482528" y="10333392"/>
                </a:lnTo>
                <a:lnTo>
                  <a:pt x="0" y="10333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46" b="-646"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897443"/>
            <a:ext cx="18288000" cy="6140989"/>
          </a:xfrm>
          <a:custGeom>
            <a:avLst/>
            <a:gdLst/>
            <a:ahLst/>
            <a:cxnLst/>
            <a:rect l="l" t="t" r="r" b="b"/>
            <a:pathLst>
              <a:path w="18288000" h="6140989">
                <a:moveTo>
                  <a:pt x="0" y="0"/>
                </a:moveTo>
                <a:lnTo>
                  <a:pt x="18288000" y="0"/>
                </a:lnTo>
                <a:lnTo>
                  <a:pt x="18288000" y="6140989"/>
                </a:lnTo>
                <a:lnTo>
                  <a:pt x="0" y="6140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388654"/>
            <a:ext cx="15641003" cy="7423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8"/>
              </a:lnSpc>
            </a:pPr>
            <a:r>
              <a:rPr lang="en-US" sz="30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Hypothesis :</a:t>
            </a:r>
          </a:p>
          <a:p>
            <a:pPr marL="708034" lvl="1" indent="-354017" algn="l">
              <a:lnSpc>
                <a:spcPts val="4591"/>
              </a:lnSpc>
              <a:buFont typeface="Arial"/>
              <a:buChar char="•"/>
            </a:pPr>
            <a:r>
              <a:rPr lang="en-US" sz="3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H₀: Director’s movie success is independent of genre</a:t>
            </a:r>
          </a:p>
          <a:p>
            <a:pPr marL="708034" lvl="1" indent="-354017" algn="l">
              <a:lnSpc>
                <a:spcPts val="4591"/>
              </a:lnSpc>
              <a:buFont typeface="Arial"/>
              <a:buChar char="•"/>
            </a:pPr>
            <a:r>
              <a:rPr lang="en-US" sz="3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H₁: Director’s movie success depends on genre</a:t>
            </a:r>
          </a:p>
          <a:p>
            <a:pPr algn="l">
              <a:lnSpc>
                <a:spcPts val="4591"/>
              </a:lnSpc>
            </a:pPr>
            <a:endParaRPr lang="en-US" sz="327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12"/>
              </a:lnSpc>
            </a:pPr>
            <a:r>
              <a:rPr lang="en-US" sz="300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 :</a:t>
            </a:r>
          </a:p>
          <a:p>
            <a:pPr marL="708034" lvl="1" indent="-354017" algn="l">
              <a:lnSpc>
                <a:spcPts val="4591"/>
              </a:lnSpc>
              <a:buFont typeface="Arial"/>
              <a:buChar char="•"/>
            </a:pPr>
            <a:r>
              <a:rPr lang="en-US" sz="3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Used: Chi-Square Test of Independence</a:t>
            </a:r>
          </a:p>
          <a:p>
            <a:pPr marL="708034" lvl="1" indent="-354017" algn="l">
              <a:lnSpc>
                <a:spcPts val="4591"/>
              </a:lnSpc>
              <a:buFont typeface="Arial"/>
              <a:buChar char="•"/>
            </a:pPr>
            <a:r>
              <a:rPr lang="en-US" sz="3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Variables:</a:t>
            </a:r>
          </a:p>
          <a:p>
            <a:pPr marL="1416068" lvl="2" indent="-472023" algn="l">
              <a:lnSpc>
                <a:spcPts val="4591"/>
              </a:lnSpc>
              <a:buFont typeface="Arial"/>
              <a:buChar char="⚬"/>
            </a:pPr>
            <a:r>
              <a:rPr lang="en-US" sz="3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Director (Christopher Nolan)</a:t>
            </a:r>
          </a:p>
          <a:p>
            <a:pPr marL="1416068" lvl="2" indent="-472023" algn="l">
              <a:lnSpc>
                <a:spcPts val="4591"/>
              </a:lnSpc>
              <a:buFont typeface="Arial"/>
              <a:buChar char="⚬"/>
            </a:pPr>
            <a:r>
              <a:rPr lang="en-US" sz="3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Genre</a:t>
            </a:r>
          </a:p>
          <a:p>
            <a:pPr marL="1416068" lvl="2" indent="-472023" algn="l">
              <a:lnSpc>
                <a:spcPts val="4591"/>
              </a:lnSpc>
              <a:buFont typeface="Arial"/>
              <a:buChar char="⚬"/>
            </a:pPr>
            <a:r>
              <a:rPr lang="en-US" sz="3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Movie Success (Based on IMDb Rating)</a:t>
            </a:r>
          </a:p>
          <a:p>
            <a:pPr algn="l">
              <a:lnSpc>
                <a:spcPts val="4591"/>
              </a:lnSpc>
            </a:pPr>
            <a:endParaRPr lang="en-US" sz="327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591"/>
              </a:lnSpc>
            </a:pPr>
            <a:r>
              <a:rPr lang="en-US" sz="327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l">
              <a:lnSpc>
                <a:spcPts val="4591"/>
              </a:lnSpc>
              <a:spcBef>
                <a:spcPct val="0"/>
              </a:spcBef>
            </a:pPr>
            <a:r>
              <a:rPr lang="en-US" sz="32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null hypothesis is rejected, indicating that the director’s success varies across genres.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2576" y="134618"/>
            <a:ext cx="6468892" cy="121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9"/>
              </a:lnSpc>
            </a:pPr>
            <a:r>
              <a:rPr lang="en-US" sz="3635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Hypothesis Testing - 1 </a:t>
            </a:r>
          </a:p>
          <a:p>
            <a:pPr algn="l">
              <a:lnSpc>
                <a:spcPts val="4529"/>
              </a:lnSpc>
              <a:spcBef>
                <a:spcPct val="0"/>
              </a:spcBef>
            </a:pPr>
            <a:r>
              <a:rPr lang="en-US" sz="323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Director Success vs Genre</a:t>
            </a:r>
          </a:p>
        </p:txBody>
      </p:sp>
      <p:sp>
        <p:nvSpPr>
          <p:cNvPr id="4" name="Freeform 4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0314" y="1543015"/>
            <a:ext cx="12924025" cy="771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sz="2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Hypothesis :</a:t>
            </a:r>
          </a:p>
          <a:p>
            <a:pPr marL="647616" lvl="1" indent="-32380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H₀: Mean IMDb ratings are the same across all runtime categories</a:t>
            </a:r>
          </a:p>
          <a:p>
            <a:pPr marL="647616" lvl="1" indent="-32380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H₁: Mean IMDb ratings differ across runtime categories</a:t>
            </a:r>
          </a:p>
          <a:p>
            <a:pPr algn="l">
              <a:lnSpc>
                <a:spcPts val="3686"/>
              </a:lnSpc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41"/>
              </a:lnSpc>
            </a:pPr>
            <a:r>
              <a:rPr lang="en-US" sz="30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 :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Used: One-Way ANOVA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Variable: Runtime Category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 Variable: IMDb Rating</a:t>
            </a:r>
          </a:p>
          <a:p>
            <a:pPr algn="l">
              <a:lnSpc>
                <a:spcPts val="3686"/>
              </a:lnSpc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46"/>
              </a:lnSpc>
            </a:pPr>
            <a:r>
              <a:rPr lang="en-US" sz="30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p-value: 1.16 × 10⁻⁷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the p-value is less than 0.05, the null hypothesis is rejected.</a:t>
            </a:r>
          </a:p>
          <a:p>
            <a:pPr algn="l">
              <a:lnSpc>
                <a:spcPts val="3686"/>
              </a:lnSpc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46"/>
              </a:lnSpc>
            </a:pPr>
            <a:r>
              <a:rPr lang="en-US" sz="30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IMDb ratings differ significantly across movie runtime categories.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2576" y="134618"/>
            <a:ext cx="7212987" cy="121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9"/>
              </a:lnSpc>
            </a:pPr>
            <a:r>
              <a:rPr lang="en-US" sz="3635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Hypothesis Testing - 2 </a:t>
            </a:r>
          </a:p>
          <a:p>
            <a:pPr algn="l">
              <a:lnSpc>
                <a:spcPts val="4529"/>
              </a:lnSpc>
              <a:spcBef>
                <a:spcPct val="0"/>
              </a:spcBef>
            </a:pPr>
            <a:r>
              <a:rPr lang="en-US" sz="323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Runtime Category vs IMDb Rating</a:t>
            </a:r>
          </a:p>
        </p:txBody>
      </p:sp>
      <p:sp>
        <p:nvSpPr>
          <p:cNvPr id="4" name="Freeform 4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0314" y="1543015"/>
            <a:ext cx="15323732" cy="771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sz="2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Hypothesis :</a:t>
            </a:r>
          </a:p>
          <a:p>
            <a:pPr marL="647616" lvl="1" indent="-32380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H₀: Mean IMDb ratings are the same across all genres</a:t>
            </a:r>
          </a:p>
          <a:p>
            <a:pPr marL="647616" lvl="1" indent="-32380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H₁: Mean IMDb ratings differ across genres</a:t>
            </a:r>
          </a:p>
          <a:p>
            <a:pPr algn="l">
              <a:lnSpc>
                <a:spcPts val="3686"/>
              </a:lnSpc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41"/>
              </a:lnSpc>
            </a:pPr>
            <a:r>
              <a:rPr lang="en-US" sz="30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 :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Used: One-Way ANOVA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Variable: Genre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 Variable: IMDb Rating</a:t>
            </a:r>
          </a:p>
          <a:p>
            <a:pPr algn="l">
              <a:lnSpc>
                <a:spcPts val="3686"/>
              </a:lnSpc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46"/>
              </a:lnSpc>
            </a:pPr>
            <a:r>
              <a:rPr lang="en-US" sz="30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One-way ANOVA shows a statistically significant difference in IMDb ratings across genres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p-value &lt; 0.05, leading to rejection of the null hypothesis</a:t>
            </a:r>
          </a:p>
          <a:p>
            <a:pPr algn="l">
              <a:lnSpc>
                <a:spcPts val="3686"/>
              </a:lnSpc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46"/>
              </a:lnSpc>
            </a:pPr>
            <a:r>
              <a:rPr lang="en-US" sz="30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Audience ratings vary significantly across different movie genres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2576" y="41606"/>
            <a:ext cx="7212987" cy="121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9"/>
              </a:lnSpc>
            </a:pPr>
            <a:r>
              <a:rPr lang="en-US" sz="3635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Hypothesis Testing - 3</a:t>
            </a:r>
          </a:p>
          <a:p>
            <a:pPr algn="l">
              <a:lnSpc>
                <a:spcPts val="4529"/>
              </a:lnSpc>
              <a:spcBef>
                <a:spcPct val="0"/>
              </a:spcBef>
            </a:pPr>
            <a:r>
              <a:rPr lang="en-US" sz="323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Genre vs IMDb Rating</a:t>
            </a:r>
          </a:p>
        </p:txBody>
      </p:sp>
      <p:sp>
        <p:nvSpPr>
          <p:cNvPr id="4" name="Freeform 4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0314" y="1543015"/>
            <a:ext cx="15323732" cy="771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sz="2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Hypothesis :</a:t>
            </a:r>
          </a:p>
          <a:p>
            <a:pPr marL="647616" lvl="1" indent="-32380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H₀: Mean IMDb ratings are the same across all genres</a:t>
            </a:r>
          </a:p>
          <a:p>
            <a:pPr marL="647616" lvl="1" indent="-32380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H₁: Mean IMDb ratings differ across genres</a:t>
            </a:r>
          </a:p>
          <a:p>
            <a:pPr algn="l">
              <a:lnSpc>
                <a:spcPts val="3686"/>
              </a:lnSpc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41"/>
              </a:lnSpc>
            </a:pPr>
            <a:r>
              <a:rPr lang="en-US" sz="30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 :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Used: One-Way ANOVA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Variable: Genre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Dependent Variable: IMDb Rating</a:t>
            </a:r>
          </a:p>
          <a:p>
            <a:pPr algn="l">
              <a:lnSpc>
                <a:spcPts val="3686"/>
              </a:lnSpc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46"/>
              </a:lnSpc>
            </a:pPr>
            <a:r>
              <a:rPr lang="en-US" sz="30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One-way ANOVA shows a statistically significant difference in IMDb ratings across genres</a:t>
            </a:r>
          </a:p>
          <a:p>
            <a:pPr marL="647614" lvl="1" indent="-323807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p-value &lt; 0.05, leading to rejection of the null hypothesis</a:t>
            </a:r>
          </a:p>
          <a:p>
            <a:pPr algn="l">
              <a:lnSpc>
                <a:spcPts val="3686"/>
              </a:lnSpc>
            </a:pPr>
            <a:endParaRPr lang="en-US"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246"/>
              </a:lnSpc>
            </a:pPr>
            <a:r>
              <a:rPr lang="en-US" sz="303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Audience ratings vary significantly across different movie genres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2576" y="41606"/>
            <a:ext cx="7212987" cy="1217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89"/>
              </a:lnSpc>
            </a:pPr>
            <a:r>
              <a:rPr lang="en-US" sz="3635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Hypothesis Testing - 3</a:t>
            </a:r>
          </a:p>
          <a:p>
            <a:pPr algn="l">
              <a:lnSpc>
                <a:spcPts val="4529"/>
              </a:lnSpc>
              <a:spcBef>
                <a:spcPct val="0"/>
              </a:spcBef>
            </a:pPr>
            <a:r>
              <a:rPr lang="en-US" sz="323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Genre vs IMDb Rating</a:t>
            </a:r>
          </a:p>
        </p:txBody>
      </p:sp>
      <p:sp>
        <p:nvSpPr>
          <p:cNvPr id="4" name="Freeform 4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17216"/>
            <a:ext cx="15724121" cy="8157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6"/>
              </a:lnSpc>
              <a:spcBef>
                <a:spcPct val="0"/>
              </a:spcBef>
            </a:pPr>
            <a:r>
              <a:rPr lang="en-US" sz="356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Audience Ratings Pattern</a:t>
            </a:r>
          </a:p>
          <a:p>
            <a:pPr marL="770565" lvl="1" indent="-385283" algn="l">
              <a:lnSpc>
                <a:spcPts val="4996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movies receive IMDb ratings between 6 and 8</a:t>
            </a:r>
          </a:p>
          <a:p>
            <a:pPr marL="770565" lvl="1" indent="-385283" algn="l">
              <a:lnSpc>
                <a:spcPts val="4996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Extremely high ratings are rare</a:t>
            </a:r>
          </a:p>
          <a:p>
            <a:pPr marL="770565" lvl="1" indent="-385283" algn="l">
              <a:lnSpc>
                <a:spcPts val="4996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Average-to-good ratings are the industry norm</a:t>
            </a:r>
          </a:p>
          <a:p>
            <a:pPr algn="l">
              <a:lnSpc>
                <a:spcPts val="4996"/>
              </a:lnSpc>
              <a:spcBef>
                <a:spcPct val="0"/>
              </a:spcBef>
            </a:pPr>
            <a:endParaRPr lang="en-US" sz="356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996"/>
              </a:lnSpc>
              <a:spcBef>
                <a:spcPct val="0"/>
              </a:spcBef>
            </a:pPr>
            <a:r>
              <a:rPr lang="en-US" sz="356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Popularity Distribution</a:t>
            </a:r>
          </a:p>
          <a:p>
            <a:pPr marL="770565" lvl="1" indent="-385283" algn="l">
              <a:lnSpc>
                <a:spcPts val="4996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Majority of movies fall under Low to Medium popularity</a:t>
            </a:r>
          </a:p>
          <a:p>
            <a:pPr marL="770565" lvl="1" indent="-385283" algn="l">
              <a:lnSpc>
                <a:spcPts val="4996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High popularity (blockbusters) are rare</a:t>
            </a:r>
          </a:p>
          <a:p>
            <a:pPr algn="l">
              <a:lnSpc>
                <a:spcPts val="4996"/>
              </a:lnSpc>
              <a:spcBef>
                <a:spcPct val="0"/>
              </a:spcBef>
            </a:pPr>
            <a:endParaRPr lang="en-US" sz="356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996"/>
              </a:lnSpc>
              <a:spcBef>
                <a:spcPct val="0"/>
              </a:spcBef>
            </a:pPr>
            <a:r>
              <a:rPr lang="en-US" sz="356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Runtime Effect on Ratings</a:t>
            </a:r>
          </a:p>
          <a:p>
            <a:pPr marL="770565" lvl="1" indent="-385283" algn="l">
              <a:lnSpc>
                <a:spcPts val="4996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Movies with standard runtimes (120–150 minutes) consistently achieve better ratings</a:t>
            </a:r>
          </a:p>
          <a:p>
            <a:pPr marL="770565" lvl="1" indent="-385283" algn="l">
              <a:lnSpc>
                <a:spcPts val="4996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short and very long movies show weaker or inconsistent ratings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2576" y="-99078"/>
            <a:ext cx="2909355" cy="96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Insights</a:t>
            </a:r>
          </a:p>
        </p:txBody>
      </p:sp>
      <p:sp>
        <p:nvSpPr>
          <p:cNvPr id="4" name="Freeform 4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5400000">
            <a:off x="584928" y="1278410"/>
            <a:ext cx="309678" cy="270968"/>
            <a:chOff x="0" y="0"/>
            <a:chExt cx="812800" cy="711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584928" y="4384703"/>
            <a:ext cx="309678" cy="270968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584928" y="6915562"/>
            <a:ext cx="309678" cy="270968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81939" y="1159223"/>
            <a:ext cx="15724121" cy="754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6"/>
              </a:lnSpc>
              <a:spcBef>
                <a:spcPct val="0"/>
              </a:spcBef>
            </a:pPr>
            <a:r>
              <a:rPr lang="en-US" sz="356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Popularity vs Rating Relationship</a:t>
            </a:r>
          </a:p>
          <a:p>
            <a:pPr marL="770565" lvl="1" indent="-385283" algn="l">
              <a:lnSpc>
                <a:spcPts val="4996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popularity does not always correspond to high ratings</a:t>
            </a:r>
          </a:p>
          <a:p>
            <a:pPr marL="770565" lvl="1" indent="-385283" algn="l">
              <a:lnSpc>
                <a:spcPts val="4996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well-rated movies exist at medium popularity levels</a:t>
            </a:r>
          </a:p>
          <a:p>
            <a:pPr algn="l">
              <a:lnSpc>
                <a:spcPts val="4996"/>
              </a:lnSpc>
              <a:spcBef>
                <a:spcPct val="0"/>
              </a:spcBef>
            </a:pPr>
            <a:endParaRPr lang="en-US" sz="356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996"/>
              </a:lnSpc>
              <a:spcBef>
                <a:spcPct val="0"/>
              </a:spcBef>
            </a:pPr>
            <a:r>
              <a:rPr lang="en-US" sz="356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Genre-wise Audience Acceptance</a:t>
            </a:r>
          </a:p>
          <a:p>
            <a:pPr marL="770565" lvl="1" indent="-385283" algn="l">
              <a:lnSpc>
                <a:spcPts val="4996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Documentary, War, Film-Noir, Western genres show higher median ratings</a:t>
            </a:r>
          </a:p>
          <a:p>
            <a:pPr marL="770565" lvl="1" indent="-385283" algn="l">
              <a:lnSpc>
                <a:spcPts val="4996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Action, Comedy, Horror show lower and more variable ratings</a:t>
            </a:r>
          </a:p>
          <a:p>
            <a:pPr algn="l">
              <a:lnSpc>
                <a:spcPts val="4996"/>
              </a:lnSpc>
              <a:spcBef>
                <a:spcPct val="0"/>
              </a:spcBef>
            </a:pPr>
            <a:endParaRPr lang="en-US" sz="356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996"/>
              </a:lnSpc>
              <a:spcBef>
                <a:spcPct val="0"/>
              </a:spcBef>
            </a:pPr>
            <a:r>
              <a:rPr lang="en-US" sz="356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Genre-wise Popularity Distribution</a:t>
            </a:r>
          </a:p>
          <a:p>
            <a:pPr marL="770565" lvl="1" indent="-385283" algn="l">
              <a:lnSpc>
                <a:spcPts val="4996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Action, Comedy, Romance attract higher popularity</a:t>
            </a:r>
          </a:p>
          <a:p>
            <a:pPr marL="770565" lvl="1" indent="-385283" algn="l">
              <a:lnSpc>
                <a:spcPts val="4996"/>
              </a:lnSpc>
              <a:spcBef>
                <a:spcPct val="0"/>
              </a:spcBef>
              <a:buFont typeface="Arial"/>
              <a:buChar char="•"/>
            </a:pPr>
            <a:r>
              <a:rPr lang="en-US" sz="356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Documentary and Film-Noir attract niche audiences</a:t>
            </a:r>
          </a:p>
          <a:p>
            <a:pPr algn="l">
              <a:lnSpc>
                <a:spcPts val="4996"/>
              </a:lnSpc>
              <a:spcBef>
                <a:spcPct val="0"/>
              </a:spcBef>
            </a:pPr>
            <a:endParaRPr lang="en-US" sz="356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62576" y="-99078"/>
            <a:ext cx="2909355" cy="96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Insights</a:t>
            </a:r>
          </a:p>
        </p:txBody>
      </p:sp>
      <p:sp>
        <p:nvSpPr>
          <p:cNvPr id="4" name="Freeform 4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5400000">
            <a:off x="738377" y="1503870"/>
            <a:ext cx="309678" cy="270968"/>
            <a:chOff x="0" y="0"/>
            <a:chExt cx="812800" cy="711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738377" y="6409346"/>
            <a:ext cx="309678" cy="270968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738377" y="3956673"/>
            <a:ext cx="309678" cy="270968"/>
            <a:chOff x="0" y="0"/>
            <a:chExt cx="812800" cy="711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630" y="15877"/>
            <a:ext cx="8817921" cy="8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Business Recommendations</a:t>
            </a:r>
          </a:p>
        </p:txBody>
      </p:sp>
      <p:sp>
        <p:nvSpPr>
          <p:cNvPr id="3" name="Freeform 3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9528" y="1226729"/>
            <a:ext cx="15080085" cy="6441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4522" lvl="1" indent="-357261" algn="l">
              <a:lnSpc>
                <a:spcPts val="4633"/>
              </a:lnSpc>
              <a:spcBef>
                <a:spcPct val="0"/>
              </a:spcBef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Prioritize genres with consistent audience ratings, not just high popularity</a:t>
            </a:r>
          </a:p>
          <a:p>
            <a:pPr algn="l">
              <a:lnSpc>
                <a:spcPts val="4633"/>
              </a:lnSpc>
              <a:spcBef>
                <a:spcPct val="0"/>
              </a:spcBef>
            </a:pPr>
            <a:endParaRPr lang="en-US" sz="33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4522" lvl="1" indent="-357261" algn="l">
              <a:lnSpc>
                <a:spcPts val="4633"/>
              </a:lnSpc>
              <a:spcBef>
                <a:spcPct val="0"/>
              </a:spcBef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120–150 minutes as the safest runtime range</a:t>
            </a:r>
          </a:p>
          <a:p>
            <a:pPr algn="l">
              <a:lnSpc>
                <a:spcPts val="4633"/>
              </a:lnSpc>
              <a:spcBef>
                <a:spcPct val="0"/>
              </a:spcBef>
            </a:pPr>
            <a:endParaRPr lang="en-US" sz="33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4522" lvl="1" indent="-357261" algn="l">
              <a:lnSpc>
                <a:spcPts val="4633"/>
              </a:lnSpc>
              <a:spcBef>
                <a:spcPct val="0"/>
              </a:spcBef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rely solely on popularity metrics for decision-making</a:t>
            </a:r>
          </a:p>
          <a:p>
            <a:pPr algn="l">
              <a:lnSpc>
                <a:spcPts val="4633"/>
              </a:lnSpc>
              <a:spcBef>
                <a:spcPct val="0"/>
              </a:spcBef>
            </a:pPr>
            <a:endParaRPr lang="en-US" sz="33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4522" lvl="1" indent="-357261" algn="l">
              <a:lnSpc>
                <a:spcPts val="4633"/>
              </a:lnSpc>
              <a:spcBef>
                <a:spcPct val="0"/>
              </a:spcBef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Medium-popularity films can still deliver strong audience satisfaction</a:t>
            </a:r>
          </a:p>
          <a:p>
            <a:pPr algn="l">
              <a:lnSpc>
                <a:spcPts val="4633"/>
              </a:lnSpc>
              <a:spcBef>
                <a:spcPct val="0"/>
              </a:spcBef>
            </a:pPr>
            <a:endParaRPr lang="en-US" sz="33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4522" lvl="1" indent="-357261" algn="l">
              <a:lnSpc>
                <a:spcPts val="4633"/>
              </a:lnSpc>
              <a:spcBef>
                <a:spcPct val="0"/>
              </a:spcBef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 directors to genres where they have demonstrated past success</a:t>
            </a:r>
          </a:p>
          <a:p>
            <a:pPr algn="l">
              <a:lnSpc>
                <a:spcPts val="4633"/>
              </a:lnSpc>
              <a:spcBef>
                <a:spcPct val="0"/>
              </a:spcBef>
            </a:pPr>
            <a:endParaRPr lang="en-US" sz="33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4522" lvl="1" indent="-357261" algn="l">
              <a:lnSpc>
                <a:spcPts val="4633"/>
              </a:lnSpc>
              <a:spcBef>
                <a:spcPct val="0"/>
              </a:spcBef>
              <a:buFont typeface="Arial"/>
              <a:buChar char="•"/>
            </a:pPr>
            <a:r>
              <a:rPr lang="en-US" sz="33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Mid-budget, well-crafted films offer a safer risk–reward balance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9528" y="8050984"/>
            <a:ext cx="17693385" cy="941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Movie success is driven by a combination of genre choice, optimal runtime, and content quality rather than popularity alone, and data-driven decision-making can significantly reduce production risk.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630" y="15877"/>
            <a:ext cx="8817921" cy="8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Challenges Faced</a:t>
            </a:r>
          </a:p>
        </p:txBody>
      </p:sp>
      <p:sp>
        <p:nvSpPr>
          <p:cNvPr id="3" name="Freeform 3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5809" y="1064114"/>
            <a:ext cx="17636381" cy="861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6138" lvl="1" indent="-328069" algn="just">
              <a:lnSpc>
                <a:spcPts val="4254"/>
              </a:lnSpc>
              <a:spcBef>
                <a:spcPct val="0"/>
              </a:spcBef>
              <a:buFont typeface="Arial"/>
              <a:buChar char="•"/>
            </a:pPr>
            <a:r>
              <a:rPr lang="en-US" sz="303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website structure:</a:t>
            </a:r>
            <a:r>
              <a:rPr lang="en-US" sz="30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IMDb pages change dynamically, making element identification challenging during web scraping</a:t>
            </a:r>
          </a:p>
          <a:p>
            <a:pPr algn="just">
              <a:lnSpc>
                <a:spcPts val="4254"/>
              </a:lnSpc>
              <a:spcBef>
                <a:spcPct val="0"/>
              </a:spcBef>
            </a:pPr>
            <a:endParaRPr lang="en-US" sz="303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6138" lvl="1" indent="-328069" algn="just">
              <a:lnSpc>
                <a:spcPts val="4254"/>
              </a:lnSpc>
              <a:spcBef>
                <a:spcPct val="0"/>
              </a:spcBef>
              <a:buFont typeface="Arial"/>
              <a:buChar char="•"/>
            </a:pPr>
            <a:r>
              <a:rPr lang="en-US" sz="303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Handling missing values:</a:t>
            </a:r>
            <a:r>
              <a:rPr lang="en-US" sz="30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Several fields contained missing data, requiring careful preprocessing without losing important information</a:t>
            </a:r>
          </a:p>
          <a:p>
            <a:pPr algn="just">
              <a:lnSpc>
                <a:spcPts val="4254"/>
              </a:lnSpc>
              <a:spcBef>
                <a:spcPct val="0"/>
              </a:spcBef>
            </a:pPr>
            <a:endParaRPr lang="en-US" sz="303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6138" lvl="1" indent="-328069" algn="just">
              <a:lnSpc>
                <a:spcPts val="4254"/>
              </a:lnSpc>
              <a:spcBef>
                <a:spcPct val="0"/>
              </a:spcBef>
              <a:buFont typeface="Arial"/>
              <a:buChar char="•"/>
            </a:pPr>
            <a:r>
              <a:rPr lang="en-US" sz="303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Highly skewed popularity data:</a:t>
            </a:r>
            <a:r>
              <a:rPr lang="en-US" sz="30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IMDb votes were extremely skewed, making direct analysis difficult</a:t>
            </a:r>
          </a:p>
          <a:p>
            <a:pPr algn="just">
              <a:lnSpc>
                <a:spcPts val="4254"/>
              </a:lnSpc>
              <a:spcBef>
                <a:spcPct val="0"/>
              </a:spcBef>
            </a:pPr>
            <a:endParaRPr lang="en-US" sz="303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6138" lvl="1" indent="-328069" algn="just">
              <a:lnSpc>
                <a:spcPts val="4254"/>
              </a:lnSpc>
              <a:spcBef>
                <a:spcPct val="0"/>
              </a:spcBef>
              <a:buFont typeface="Arial"/>
              <a:buChar char="•"/>
            </a:pPr>
            <a:r>
              <a:rPr lang="en-US" sz="303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Multi-genre movies:</a:t>
            </a:r>
            <a:r>
              <a:rPr lang="en-US" sz="30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Movies belonging to multiple genres required restructuring the dataset for accurate genre-wise analysis</a:t>
            </a:r>
          </a:p>
          <a:p>
            <a:pPr algn="just">
              <a:lnSpc>
                <a:spcPts val="4254"/>
              </a:lnSpc>
              <a:spcBef>
                <a:spcPct val="0"/>
              </a:spcBef>
            </a:pPr>
            <a:endParaRPr lang="en-US" sz="303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6138" lvl="1" indent="-328069" algn="just">
              <a:lnSpc>
                <a:spcPts val="4254"/>
              </a:lnSpc>
              <a:spcBef>
                <a:spcPct val="0"/>
              </a:spcBef>
              <a:buFont typeface="Arial"/>
              <a:buChar char="•"/>
            </a:pPr>
            <a:r>
              <a:rPr lang="en-US" sz="303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Choosing appropriate visualizations:</a:t>
            </a:r>
            <a:r>
              <a:rPr lang="en-US" sz="30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Selecting clear and meaningful plots while avoiding misleading representations</a:t>
            </a:r>
          </a:p>
          <a:p>
            <a:pPr algn="just">
              <a:lnSpc>
                <a:spcPts val="4254"/>
              </a:lnSpc>
              <a:spcBef>
                <a:spcPct val="0"/>
              </a:spcBef>
            </a:pPr>
            <a:endParaRPr lang="en-US" sz="303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6138" lvl="1" indent="-328069" algn="just">
              <a:lnSpc>
                <a:spcPts val="4254"/>
              </a:lnSpc>
              <a:spcBef>
                <a:spcPct val="0"/>
              </a:spcBef>
              <a:buFont typeface="Arial"/>
              <a:buChar char="•"/>
            </a:pPr>
            <a:r>
              <a:rPr lang="en-US" sz="303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Statistical decision making:</a:t>
            </a:r>
            <a:r>
              <a:rPr lang="en-US" sz="303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Selecting suitable hypothesis tests and validating assumptions correctly</a:t>
            </a:r>
          </a:p>
          <a:p>
            <a:pPr algn="just">
              <a:lnSpc>
                <a:spcPts val="4254"/>
              </a:lnSpc>
              <a:spcBef>
                <a:spcPct val="0"/>
              </a:spcBef>
            </a:pPr>
            <a:endParaRPr lang="en-US" sz="303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630" y="15877"/>
            <a:ext cx="3639018" cy="87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FF0000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70451" y="1140479"/>
            <a:ext cx="15080085" cy="7435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7702" lvl="1" indent="-378851" algn="l">
              <a:lnSpc>
                <a:spcPts val="4913"/>
              </a:lnSpc>
              <a:spcBef>
                <a:spcPct val="0"/>
              </a:spcBef>
              <a:buFont typeface="Arial"/>
              <a:buChar char="•"/>
            </a:pPr>
            <a:r>
              <a:rPr lang="en-US" sz="35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Movie success is influenced by multiple interacting factors, not popularity alone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  <a:endParaRPr lang="en-US" sz="35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7702" lvl="1" indent="-378851" algn="l">
              <a:lnSpc>
                <a:spcPts val="4913"/>
              </a:lnSpc>
              <a:spcBef>
                <a:spcPct val="0"/>
              </a:spcBef>
              <a:buFont typeface="Arial"/>
              <a:buChar char="•"/>
            </a:pPr>
            <a:r>
              <a:rPr lang="en-US" sz="35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Genre selection and runtime play a crucial role in audience acceptance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  <a:endParaRPr lang="en-US" sz="35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7702" lvl="1" indent="-378851" algn="l">
              <a:lnSpc>
                <a:spcPts val="4913"/>
              </a:lnSpc>
              <a:spcBef>
                <a:spcPct val="0"/>
              </a:spcBef>
              <a:buFont typeface="Arial"/>
              <a:buChar char="•"/>
            </a:pPr>
            <a:r>
              <a:rPr lang="en-US" sz="35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Movies with standard runtimes (120–150 minutes) consistently perform better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  <a:endParaRPr lang="en-US" sz="35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7702" lvl="1" indent="-378851" algn="l">
              <a:lnSpc>
                <a:spcPts val="4913"/>
              </a:lnSpc>
              <a:spcBef>
                <a:spcPct val="0"/>
              </a:spcBef>
              <a:buFont typeface="Arial"/>
              <a:buChar char="•"/>
            </a:pPr>
            <a:r>
              <a:rPr lang="en-US" sz="35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popularity does not guarantee high audience ratings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  <a:endParaRPr lang="en-US" sz="35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7702" lvl="1" indent="-378851" algn="l">
              <a:lnSpc>
                <a:spcPts val="4913"/>
              </a:lnSpc>
              <a:spcBef>
                <a:spcPct val="0"/>
              </a:spcBef>
              <a:buFont typeface="Arial"/>
              <a:buChar char="•"/>
            </a:pPr>
            <a:r>
              <a:rPr lang="en-US" sz="35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Directors show genre-specific success patterns, highlighting the importance of alignment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  <a:endParaRPr lang="en-US" sz="35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7702" lvl="1" indent="-378851" algn="l">
              <a:lnSpc>
                <a:spcPts val="4913"/>
              </a:lnSpc>
              <a:spcBef>
                <a:spcPct val="0"/>
              </a:spcBef>
              <a:buFont typeface="Arial"/>
              <a:buChar char="•"/>
            </a:pPr>
            <a:r>
              <a:rPr lang="en-US" sz="35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Data-driven decision-making can significantly reduce production risk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99774" y="2776128"/>
            <a:ext cx="6698466" cy="4251474"/>
          </a:xfrm>
          <a:custGeom>
            <a:avLst/>
            <a:gdLst/>
            <a:ahLst/>
            <a:cxnLst/>
            <a:rect l="l" t="t" r="r" b="b"/>
            <a:pathLst>
              <a:path w="6698466" h="4251474">
                <a:moveTo>
                  <a:pt x="0" y="0"/>
                </a:moveTo>
                <a:lnTo>
                  <a:pt x="6698466" y="0"/>
                </a:lnTo>
                <a:lnTo>
                  <a:pt x="6698466" y="4251474"/>
                </a:lnTo>
                <a:lnTo>
                  <a:pt x="0" y="4251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58321" y="4541501"/>
            <a:ext cx="5309902" cy="106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13952725" y="9361634"/>
            <a:ext cx="4335275" cy="925366"/>
          </a:xfrm>
          <a:custGeom>
            <a:avLst/>
            <a:gdLst/>
            <a:ahLst/>
            <a:cxnLst/>
            <a:rect l="l" t="t" r="r" b="b"/>
            <a:pathLst>
              <a:path w="4335275" h="925366">
                <a:moveTo>
                  <a:pt x="0" y="0"/>
                </a:moveTo>
                <a:lnTo>
                  <a:pt x="4335275" y="0"/>
                </a:lnTo>
                <a:lnTo>
                  <a:pt x="4335275" y="925366"/>
                </a:lnTo>
                <a:lnTo>
                  <a:pt x="0" y="925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1617</Words>
  <Application>Microsoft Office PowerPoint</Application>
  <PresentationFormat>Custom</PresentationFormat>
  <Paragraphs>292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Libre Baskerville</vt:lpstr>
      <vt:lpstr>Canva Sans Bold</vt:lpstr>
      <vt:lpstr>Calibri</vt:lpstr>
      <vt:lpstr>Arial</vt:lpstr>
      <vt:lpstr>Times New Roman Bold</vt:lpstr>
      <vt:lpstr>Arial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Project Final.pptx</dc:title>
  <cp:lastModifiedBy>sathwik reddy</cp:lastModifiedBy>
  <cp:revision>2</cp:revision>
  <dcterms:created xsi:type="dcterms:W3CDTF">2006-08-16T00:00:00Z</dcterms:created>
  <dcterms:modified xsi:type="dcterms:W3CDTF">2026-01-30T15:06:09Z</dcterms:modified>
  <dc:identifier>DAG_tuRCrcY</dc:identifier>
</cp:coreProperties>
</file>